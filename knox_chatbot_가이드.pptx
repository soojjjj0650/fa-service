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0" y="914400"/>
            <a:ext cx="4389120" cy="54864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0" y="1828800"/>
            <a:ext cx="3657600" cy="4114800"/>
          </a:xfrm>
          <a:prstGeom prst="rect">
            <a:avLst/>
          </a:prstGeom>
          <a:solidFill>
            <a:srgbClr val="1A32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0" i="0">
                <a:solidFill>
                  <a:srgbClr val="FFFFFF"/>
                </a:solidFill>
              </a:rPr>
              <a:t>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749807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Knox Teams
메신저 만들기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80560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0A5FA"/>
                </a:solidFill>
              </a:rPr>
              <a:t>봇 등록  ·  방화벽  ·  서버 등록  ·  API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Knox C&amp;C Suite Developer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03504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0A5FA"/>
                </a:solidFill>
              </a:rPr>
              <a:t>http://developers.samsung.net/static/knoxcenter/main.html#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전체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이 순서대로 진행합니다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25780" y="1554480"/>
            <a:ext cx="2103120" cy="34747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25780" y="1554480"/>
            <a:ext cx="21031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5780" y="1664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8BDF8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21488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챗봇 아이디
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" y="32004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Knox Portal에서
봇 계정 신청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29260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8BDF8"/>
                </a:solidFill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84348" y="1554480"/>
            <a:ext cx="2103120" cy="3474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84348" y="1554480"/>
            <a:ext cx="21031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4348" y="1664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8BDF8"/>
                </a:solidFill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4348" y="21488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방화벽
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4348" y="32004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서버 포트 개방
(IN/OUT)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7468" y="29260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8BDF8"/>
                </a:solidFill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42916" y="1554480"/>
            <a:ext cx="2103120" cy="34747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42916" y="1554480"/>
            <a:ext cx="21031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2916" y="1664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8BDF8"/>
                </a:solidFill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2916" y="21488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Knox 서버
등록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42916" y="32004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System ID &amp;
Token 발급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6036" y="29260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8BDF8"/>
                </a:solidFill>
              </a:rPr>
              <a:t>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01484" y="1554480"/>
            <a:ext cx="2103120" cy="3474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01484" y="1554480"/>
            <a:ext cx="21031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01484" y="1664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8BDF8"/>
                </a:solidFill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1484" y="21488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API 연결
챗봇 방 생성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01484" y="32004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Device 등록
대화방 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4604" y="29260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8BDF8"/>
                </a:solidFill>
              </a:rPr>
              <a:t>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0052" y="1554480"/>
            <a:ext cx="2103120" cy="34747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60052" y="1554480"/>
            <a:ext cx="21031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60052" y="16642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8BDF8"/>
                </a:solidFill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60052" y="214884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FAQ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60052" y="32004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문의처 &amp;
Knox Support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챗봇 아이디 생성하기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Knox Portal에서 봇 계정을 신청합니다. 결재 후 챗봇 아이디가 생성됩니다.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1274552" cy="4572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9344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Home  →  My Interface  →  Bot  →  봇관리  →  봇계정신청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48840"/>
            <a:ext cx="3474720" cy="18288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48840"/>
            <a:ext cx="347472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7627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결재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0A5FA"/>
                </a:solidFill>
              </a:rPr>
              <a:t>•  파트장  결재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09067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0A5FA"/>
                </a:solidFill>
              </a:rPr>
              <a:t>•  경영지원  합의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2148840"/>
            <a:ext cx="7772400" cy="4297680"/>
          </a:xfrm>
          <a:prstGeom prst="rect">
            <a:avLst/>
          </a:prstGeom>
          <a:solidFill>
            <a:srgbClr val="12223A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0" y="39776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0A5FA"/>
                </a:solidFill>
              </a:rPr>
              <a:t>📷   봇계정신청 화면 캡쳐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14800"/>
            <a:ext cx="347472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114800"/>
            <a:ext cx="54864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16966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💡 결재 완료 후 아이디 생성 확인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5A9E"/>
                </a:solidFill>
              </a:rPr>
              <a:t>STEP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</a:rPr>
              <a:t>방화벽 연결하기 — 개념도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75569"/>
                </a:solidFill>
              </a:rPr>
              <a:t>Knox 서버는 수신용(API)과 발신용(Webhook) IP가 다릅니다 — 두 방향 모두 방화벽 정책 등록 필요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11457432" cy="1905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93876" y="1536192"/>
            <a:ext cx="9601200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3876" y="15361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▲  발신 (Outbound) — 내 서버  →  Knox 수신 서버 (API)  |  Port 80, 443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93876" y="1847088"/>
            <a:ext cx="2651760" cy="1737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93876" y="1847088"/>
            <a:ext cx="265176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3876" y="1938528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🖥️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3876" y="25146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내 서버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3876" y="29260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0A5FA"/>
                </a:solidFill>
              </a:rPr>
              <a:t>My Server  Port 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45636" y="1956816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D5A9E"/>
                </a:solidFill>
              </a:rPr>
              <a:t>Port
80/443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45636" y="23957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D5A9E"/>
                </a:solidFill>
              </a:rPr>
              <a:t>────▶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68596" y="1847088"/>
            <a:ext cx="2651760" cy="173736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68596" y="1847088"/>
            <a:ext cx="2651760" cy="7315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8596" y="1938528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🛡️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8596" y="25146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방화벽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8596" y="29260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Firewall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0356" y="23957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D5A9E"/>
                </a:solidFill>
              </a:rPr>
              <a:t>────▶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43316" y="1847088"/>
            <a:ext cx="2651760" cy="1737360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43316" y="1847088"/>
            <a:ext cx="265176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3316" y="1938528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3316" y="25146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Knox 수신 서버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3316" y="2926080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60A5FA"/>
                </a:solidFill>
              </a:rPr>
              <a:t>openapi.samsung.net
API 요청 수신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93876" y="3904488"/>
            <a:ext cx="9601200" cy="27432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93876" y="3904488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▼  수신 (Inbound) — Knox 발신 서버 (Webhook)  →  내 서버  |  Port 80  ⚠ 반드시 허용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93876" y="4215384"/>
            <a:ext cx="2651760" cy="1737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93876" y="4215384"/>
            <a:ext cx="265176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93876" y="4306824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🖥️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3876" y="4882896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내 서버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3876" y="5294376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0A5FA"/>
                </a:solidFill>
              </a:rPr>
              <a:t>My Server  Port 80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45636" y="4325112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75569"/>
                </a:solidFill>
              </a:rPr>
              <a:t>Port
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45636" y="4764024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475569"/>
                </a:solidFill>
              </a:rPr>
              <a:t>◀────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68596" y="4215384"/>
            <a:ext cx="2651760" cy="173736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768596" y="4215384"/>
            <a:ext cx="2651760" cy="7315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68596" y="4306824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🛡️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68596" y="4882896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방화벽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68596" y="5294376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Firewall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20356" y="4764024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475569"/>
                </a:solidFill>
              </a:rPr>
              <a:t>◀────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43316" y="4215384"/>
            <a:ext cx="2651760" cy="173736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43316" y="4215384"/>
            <a:ext cx="2651760" cy="73152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43316" y="4306824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43316" y="4882896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Knox 발신 서버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43316" y="5294376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60A5FA"/>
                </a:solidFill>
              </a:rPr>
              <a:t>Webhook POST 전송
메시지를 내 서버로 발신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93876" y="6153912"/>
            <a:ext cx="9601200" cy="475488"/>
          </a:xfrm>
          <a:prstGeom prst="rect">
            <a:avLst/>
          </a:prstGeom>
          <a:solidFill>
            <a:srgbClr val="E4E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293876" y="6153912"/>
            <a:ext cx="54864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385316" y="6208776"/>
            <a:ext cx="9418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  💡  Knox 서버 IP는 방향(수신/발신)과 환경(스테이지/운영)에 따라 다릅니다 — 다음 슬라이드에서 상세 확인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5A9E"/>
                </a:solidFill>
              </a:rPr>
              <a:t>STEP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</a:rPr>
              <a:t>방화벽 정책 상세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75569"/>
                </a:solidFill>
              </a:rPr>
              <a:t>스테이지(개발)와 운영 서버의 IP/포트 정보를 방화벽 담당자에게 전달합니다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11457432" cy="1905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486400" cy="38404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🔷  스테이지 (개발 서버)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38528"/>
            <a:ext cx="5486400" cy="329184"/>
          </a:xfrm>
          <a:prstGeom prst="rect">
            <a:avLst/>
          </a:prstGeom>
          <a:solidFill>
            <a:srgbClr val="1A4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3852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6EFAC"/>
                </a:solidFill>
              </a:rPr>
              <a:t>  ▲  발신 (Outbound) — 내 서버  →  Knox 수신 서버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04288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34086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출발지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340864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내 서버 IP   :   Port 80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68833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목적지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2688336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203.254.214.131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99232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Host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035808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openapi.stage.samsung.net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346704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38328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포트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383280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80,  443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703320"/>
            <a:ext cx="5486400" cy="329184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70332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▼  수신 (Inbound) — Knox 발신 서버  →  내 서버  ⚠ 반드시 허용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069080"/>
            <a:ext cx="1188720" cy="384048"/>
          </a:xfrm>
          <a:prstGeom prst="rect">
            <a:avLst/>
          </a:prstGeom>
          <a:solidFill>
            <a:srgbClr val="2A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11480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출발지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4114800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112.106.197.162  (발신 서버 1개)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453128"/>
            <a:ext cx="1188720" cy="384048"/>
          </a:xfrm>
          <a:prstGeom prst="rect">
            <a:avLst/>
          </a:prstGeom>
          <a:solidFill>
            <a:srgbClr val="2A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498848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목적지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4498848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내 서버 IP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837176"/>
            <a:ext cx="1188720" cy="384048"/>
          </a:xfrm>
          <a:prstGeom prst="rect">
            <a:avLst/>
          </a:prstGeom>
          <a:solidFill>
            <a:srgbClr val="2A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882896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포트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00200" y="4882896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80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36792" y="1508760"/>
            <a:ext cx="5486400" cy="384048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36792" y="15087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🔷  운영 (실사용 서버)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36792" y="1938528"/>
            <a:ext cx="5486400" cy="329184"/>
          </a:xfrm>
          <a:prstGeom prst="rect">
            <a:avLst/>
          </a:prstGeom>
          <a:solidFill>
            <a:srgbClr val="1A4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6792" y="193852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6EFAC"/>
                </a:solidFill>
              </a:rPr>
              <a:t>  ▲  발신 (Outbound) — 내 서버  →  Knox 수신 서버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36792" y="2304288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28232" y="234086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출발지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71232" y="2340864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내 서버 IP   :   Port 80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36792" y="2651760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28232" y="268833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목적지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71232" y="2688336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112.107.220.134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36792" y="2999232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28232" y="303580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Host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71232" y="3035808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openapi.samsung.net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36792" y="3346704"/>
            <a:ext cx="1188720" cy="347472"/>
          </a:xfrm>
          <a:prstGeom prst="rect">
            <a:avLst/>
          </a:prstGeom>
          <a:solidFill>
            <a:srgbClr val="0C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28232" y="338328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포트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71232" y="3383280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80,  443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36792" y="3703320"/>
            <a:ext cx="5486400" cy="329184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36792" y="370332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▼  수신 (Inbound) — Knox 발신 서버  →  내 서버  ⚠ 반드시 허용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36792" y="4069080"/>
            <a:ext cx="1188720" cy="384048"/>
          </a:xfrm>
          <a:prstGeom prst="rect">
            <a:avLst/>
          </a:prstGeom>
          <a:solidFill>
            <a:srgbClr val="2A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28232" y="411480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출발지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71232" y="4114800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182.195.35.14
182.195.35.15
182.195.35.16  (발신 서버 3개)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36792" y="4453128"/>
            <a:ext cx="1188720" cy="384048"/>
          </a:xfrm>
          <a:prstGeom prst="rect">
            <a:avLst/>
          </a:prstGeom>
          <a:solidFill>
            <a:srgbClr val="2A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28232" y="4498848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목적지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71232" y="4498848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내 서버 IP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36792" y="4837176"/>
            <a:ext cx="1188720" cy="384048"/>
          </a:xfrm>
          <a:prstGeom prst="rect">
            <a:avLst/>
          </a:prstGeom>
          <a:solidFill>
            <a:srgbClr val="2A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28232" y="4882896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포트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71232" y="4882896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80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Knox 수/발신 서버에 등록하기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봇을 Knox 서버에 등록하면 System ID와 Access Token이 발급됩니다 (본인만 봇 앱 리스트 확인 가능)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577840" cy="38404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🔷  스테이지 봇 연계 신청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38528"/>
            <a:ext cx="5577840" cy="4572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938528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9933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Home → My Interface → Bot → 연계 신청관리 → 스테이지 봇 연계 신청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871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• 결재: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24871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그룹장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9443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• 합의: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9443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015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• AI빌더 사용여부: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34015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미사용  (AI빌더 서버 주소가 달라 신중히 선택)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8587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• 과금 관리자: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38587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본인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70832"/>
            <a:ext cx="5577840" cy="2148840"/>
          </a:xfrm>
          <a:prstGeom prst="rect">
            <a:avLst/>
          </a:prstGeom>
          <a:solidFill>
            <a:srgbClr val="12223A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5125212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0A5FA"/>
                </a:solidFill>
              </a:rPr>
              <a:t>📷   스테이지 봇 연계 신청 화면 캡쳐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508760"/>
            <a:ext cx="5577840" cy="384048"/>
          </a:xfrm>
          <a:prstGeom prst="rect">
            <a:avLst/>
          </a:prstGeom>
          <a:solidFill>
            <a:srgbClr val="5C3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50876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🔶  운영 봇 연계 신청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1938528"/>
            <a:ext cx="5577840" cy="4572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1938528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19933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Home → My Interface → Bot → 연계 신청관리 → 운영 봇 연계 신청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4871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• AI빌더 사용여부: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4871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미사용  (AI빌더 서버 주소가 달라 신중히 선택)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9443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• 과금 관리자: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9443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본인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3474720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3474720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352958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⚠  등록 완료 시 System ID 와 Access Token 을 꼭 보관하세요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4041648"/>
            <a:ext cx="5577840" cy="2468880"/>
          </a:xfrm>
          <a:prstGeom prst="rect">
            <a:avLst/>
          </a:prstGeom>
          <a:solidFill>
            <a:srgbClr val="12223A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4956048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0A5FA"/>
                </a:solidFill>
              </a:rPr>
              <a:t>📷   운영 봇 연계 신청 화면 캡쳐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API 연결 &amp; 챗봇 방 생성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Knox Developer Center의 API 문서를 참고하여 챗봇 대화방을 생성합니다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11457432" cy="4572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508760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563624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Home  →  Dev Guide  →  메신저   또는   Home  →  Dev Guide  →  Bot  →  시작하기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03120"/>
            <a:ext cx="5394960" cy="1188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2103120"/>
            <a:ext cx="539496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9456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8BDF8"/>
                </a:solidFill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1945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메신저 Device 등록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60604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A5FA"/>
                </a:solidFill>
              </a:rPr>
              <a:t>봇 계정에 Device를 등록합니다.
System ID 와 Access Token 을 사용합니다.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429000"/>
            <a:ext cx="5394960" cy="1188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429000"/>
            <a:ext cx="539496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52044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8BDF8"/>
                </a:solidFill>
              </a:rPr>
              <a:t>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520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대화방 생성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9319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A5FA"/>
                </a:solidFill>
              </a:rPr>
              <a:t>등록된 Device 로 챗봇 대화방을 생성합니다.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54880"/>
            <a:ext cx="5394960" cy="1188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754880"/>
            <a:ext cx="539496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4632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8BDF8"/>
                </a:solidFill>
              </a:rPr>
              <a:t>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48463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API 문서 확인 및 연동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2578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A5FA"/>
                </a:solidFill>
              </a:rPr>
              <a:t>Messenger API 문서를 참고하여
발신/수신 API 를 개발 서버에 연결합니다.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6108192"/>
            <a:ext cx="539496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6108192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163056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📎 API 문서: Developer Center에서 Messenger API 문서를 첨부하세요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103120"/>
            <a:ext cx="5760720" cy="4480560"/>
          </a:xfrm>
          <a:prstGeom prst="rect">
            <a:avLst/>
          </a:prstGeom>
          <a:solidFill>
            <a:srgbClr val="12223A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0" y="402336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0A5FA"/>
                </a:solidFill>
              </a:rPr>
              <a:t>📷   Dev Guide 화면 캡쳐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API 코드 예제 —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① Device 등록  →  ② 대화방 생성  →  ③ 메시지 전송 순서로 호출합니다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577840" cy="29260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공통 설정 (Base URL &amp; Headers)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01368"/>
            <a:ext cx="5577840" cy="1508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801368"/>
            <a:ext cx="45720" cy="15087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847088"/>
            <a:ext cx="5413248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import requests
BASE = "https://openapi.stage.samsung.net"
headers = {
    "Authorization": "Bearer &lt;ACCESS_TOKEN&gt;",
    "x-system-id":   "&lt;SYSTEM_ID&gt;",
    "Content-Type":  "application/json",
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401568"/>
            <a:ext cx="5577840" cy="292608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401568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① Device 등록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94176"/>
            <a:ext cx="5577840" cy="1508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694176"/>
            <a:ext cx="45720" cy="15087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3739896"/>
            <a:ext cx="5413248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res = requests.post(
    f"{BASE}/messenger/bot/v1/device",
    headers=headers,
    json={"deviceName": "fa-service-bot"},
)
device_id = res.json()["deviceId"]
# device_id 를 저장해 두세요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047488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5047488"/>
            <a:ext cx="54864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510235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💡 device_id : 이후 모든 API 호출에  x-device-id  헤더로 사용합니다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596128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5596128"/>
            <a:ext cx="54864" cy="4572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6509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📌 운영 서버:  BASE = "https://openapi.samsung.net"  으로 변경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36792" y="1508760"/>
            <a:ext cx="5577840" cy="292608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36792" y="150876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② 대화방 생성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36792" y="1801368"/>
            <a:ext cx="5577840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36792" y="1801368"/>
            <a:ext cx="45720" cy="1874519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847088"/>
            <a:ext cx="5413248" cy="180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res = requests.post(
    f"{BASE}/messenger/bot/v1/chatroom",
    headers={**headers, "x-device-id": device_id},
    json={
        "roomName": "FA 분석 알림",
        "memberList": ["hong.gildong@samsung.com"],
    },
)
room_id = res.json()["roomId"]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36792" y="3493008"/>
            <a:ext cx="5577840" cy="29260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36792" y="3493008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③ 메시지 전송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36792" y="3785616"/>
            <a:ext cx="5577840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36792" y="3785616"/>
            <a:ext cx="45720" cy="1874519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3831336"/>
            <a:ext cx="5413248" cy="180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res = requests.post(
    f"{BASE}/messenger/bot/v1/message",
    headers={**headers, "x-device-id": device_id},
    json={
        "roomId": room_id,
        "messageType": "TEXT",
        "message": "FA 분석이 완료되었습니다.",
    },
)
# 응답: {"result": "success", ...}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36792" y="5486400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36792" y="5486400"/>
            <a:ext cx="54864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3952" y="554126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💡 실제 엔드포인트/파라미터는 Knox Developer Center 공식 문서를 반드시 확인하세요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Adaptive Card &amp; 파일 전송 예제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카드 메시지로 링크 버튼을 포함한 알림을 보내고, PDF 파일도 직접 전송할 수 있습니다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577840" cy="292608"/>
          </a:xfrm>
          <a:prstGeom prst="rect">
            <a:avLst/>
          </a:prstGeom>
          <a:solidFill>
            <a:srgbClr val="1453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📋  Adaptive Card 발신 (링크 버튼 포함)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01368"/>
            <a:ext cx="5577840" cy="29718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801368"/>
            <a:ext cx="45720" cy="2971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847088"/>
            <a:ext cx="5413248" cy="2907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res = requests.post(
    f"{BASE}/messenger/bot/v1/message",
    headers={**headers, "x-device-id": device_id},
    json={
        "roomId": room_id,
        "messageType": "CARD",
        "cardTitle": "FA 분석 결과",
        "cardContent": "SN: R3CX1234...\n이상 항목: 3건",
        "cardButtonList": [
            {
                "buttonType": "LINK",
                "buttonText": "결과 보기",
                "buttonValue": "http://10.246.9.74/result",
            },
        ],
    },
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892040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4892040"/>
            <a:ext cx="54864" cy="4572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94690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💡 cardButtonList 에 버튼 여러 개 추가 가능 (LINK / 전화 / 위치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458968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5458968"/>
            <a:ext cx="54864" cy="4572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51383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📌 cardContent 줄바꿈:  \n  사용 (실제 문자열에서 \\n → \n)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36792" y="1508760"/>
            <a:ext cx="5577840" cy="292608"/>
          </a:xfrm>
          <a:prstGeom prst="rect">
            <a:avLst/>
          </a:prstGeom>
          <a:solidFill>
            <a:srgbClr val="4A2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150876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📎  PDF 파일 전송 (업로드 → 메시지)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36792" y="1801368"/>
            <a:ext cx="5577840" cy="3520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36792" y="1801368"/>
            <a:ext cx="45720" cy="3520440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847088"/>
            <a:ext cx="5413248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3C5FD"/>
                </a:solidFill>
              </a:rPr>
              <a:t># ① 파일 업로드 → fileId 획득
with open("fa_report.pdf", "rb") as f:
    res = requests.post(
        f"{BASE}/messenger/bot/v1/file",
        headers={**headers, "x-device-id": device_id},
        files={"file": ("fa_report.pdf", f, "application/pdf")},
    )
file_id = res.json()["fileId"]
# ② 파일 메시지 전송
res = requests.post(
    f"{BASE}/messenger/bot/v1/message",
    headers={**headers, "x-device-id": device_id},
    json={
        "roomId": room_id,
        "messageType": "FILE",
        "fileId": file_id,
    },
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36792" y="5440680"/>
            <a:ext cx="557784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36792" y="5440680"/>
            <a:ext cx="54864" cy="457200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549554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💡 파일 크기 제한 및 허용 확장자는 Knox Developer Center 문서를 확인하세요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STEP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FAQ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0A5FA"/>
                </a:solidFill>
              </a:rPr>
              <a:t>궁금한 점이 있을 때 참고하세요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5669280" cy="14173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566928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709928"/>
            <a:ext cx="548640" cy="502920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709928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8BDF8"/>
                </a:solidFill>
              </a:rPr>
              <a:t>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709928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문의는 어디에 하나요?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240280"/>
            <a:ext cx="4983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Knoxportal@samsung.com 으로 이메일 문의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246120"/>
            <a:ext cx="5669280" cy="14173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246120"/>
            <a:ext cx="566928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355848"/>
            <a:ext cx="548640" cy="502920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355848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8BDF8"/>
                </a:solidFill>
              </a:rPr>
              <a:t>Q2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355848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Knox Support는 어떻게 사용하나요?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886200"/>
            <a:ext cx="4983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Knox Portal 화면 내 프로필 왼편  ❓  → Knox Support 진입
Teams 메뉴에서 검색 및 문의 업로드 가능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1600200"/>
            <a:ext cx="5394960" cy="4846320"/>
          </a:xfrm>
          <a:prstGeom prst="rect">
            <a:avLst/>
          </a:prstGeom>
          <a:solidFill>
            <a:srgbClr val="12223A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70332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0A5FA"/>
                </a:solidFill>
              </a:rPr>
              <a:t>📷   Knox Support 화면 캡쳐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</a:rPr>
              <a:t>Knoxportal@samsung.com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577840"/>
            <a:ext cx="594360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5577840"/>
            <a:ext cx="54864" cy="4572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5632704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💡 Knox Portal 내 물음표(?) 버튼 → Knox Support → Teams 메뉴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