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4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4000" cy="684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54000"/>
            <a:ext cx="7922818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Field Analysis 빅데이터 분석 챗봇 서비스 자동화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360000"/>
            <a:ext cx="6094476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CCEE"/>
                </a:solidFill>
              </a:rPr>
              <a:t>(주)삼성전자서비스  | 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8487" y="162000"/>
            <a:ext cx="3778575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88BBFF"/>
                </a:solidFill>
              </a:rPr>
              <a:t>24/7 FA 분석 자동화 체계 구축</a:t>
            </a:r>
          </a:p>
        </p:txBody>
      </p:sp>
      <p:sp>
        <p:nvSpPr>
          <p:cNvPr id="8" name="Rectangle 7"/>
          <p:cNvSpPr/>
          <p:nvPr/>
        </p:nvSpPr>
        <p:spPr>
          <a:xfrm>
            <a:off x="108000" y="756000"/>
            <a:ext cx="3412906" cy="19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2000" y="781200"/>
            <a:ext cx="3340906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📋 추진 배경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85706" y="756000"/>
            <a:ext cx="4875580" cy="19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706" y="781200"/>
            <a:ext cx="480358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⚙️ 시스템 구성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26087" y="756000"/>
            <a:ext cx="3720464" cy="198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80087" y="781200"/>
            <a:ext cx="3648464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✅ 주요 기능 &amp; 기대 효과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8000" y="964800"/>
            <a:ext cx="3412906" cy="5569200"/>
          </a:xfrm>
          <a:prstGeom prst="rect">
            <a:avLst/>
          </a:prstGeom>
          <a:solidFill>
            <a:srgbClr val="F0F4FA"/>
          </a:solidFill>
          <a:ln w="9525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2000" y="1008000"/>
            <a:ext cx="3304906" cy="136800"/>
          </a:xfrm>
          <a:prstGeom prst="rect">
            <a:avLst/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8000" y="1018800"/>
            <a:ext cx="3304906" cy="11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현  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000" y="1180800"/>
            <a:ext cx="3304906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• FA 현장 방문 전 빅데이터 분석 결과
사전 공유로 체계적 대응 지원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000" y="1486800"/>
            <a:ext cx="3304906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• 통신사 이관 이슈 조기 분류 →
진성 단말 이슈 집중 가능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2000" y="1846800"/>
            <a:ext cx="3304906" cy="13680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8000" y="1857600"/>
            <a:ext cx="3304906" cy="11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문제점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000" y="2026800"/>
            <a:ext cx="3304906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2020"/>
                </a:solidFill>
              </a:rPr>
              <a:t>⚠ 주말/야간 대응 불가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0000" y="2271600"/>
            <a:ext cx="3304906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2020"/>
                </a:solidFill>
              </a:rPr>
              <a:t>⚠ 수동 조회 대기시간 발생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0000" y="2516400"/>
            <a:ext cx="3304906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2020"/>
                </a:solidFill>
              </a:rPr>
              <a:t>⚠ 본사 인력 비효율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2000" y="2771999"/>
            <a:ext cx="3304906" cy="136800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8000" y="2782800"/>
            <a:ext cx="3304906" cy="11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개선 목표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0000" y="2944800"/>
            <a:ext cx="3304906" cy="20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</a:rPr>
              <a:t>▶ 챗봇 기반 24/7 자동 분석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000" y="3160800"/>
            <a:ext cx="3304906" cy="20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</a:rPr>
              <a:t>▶ VOC 해결율 향상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000" y="3376800"/>
            <a:ext cx="3304906" cy="20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</a:rPr>
              <a:t>▶ FA 대응 비용 절감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85706" y="964800"/>
            <a:ext cx="4875580" cy="5569200"/>
          </a:xfrm>
          <a:prstGeom prst="rect">
            <a:avLst/>
          </a:prstGeom>
          <a:solidFill>
            <a:srgbClr val="F0F4FA"/>
          </a:solidFill>
          <a:ln w="9525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75496" y="1054800"/>
            <a:ext cx="1296000" cy="3060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👤 FA 담당자 (Knox Messenger)</a:t>
            </a:r>
          </a:p>
        </p:txBody>
      </p:sp>
      <p:sp>
        <p:nvSpPr>
          <p:cNvPr id="31" name="Parallelogram 30"/>
          <p:cNvSpPr/>
          <p:nvPr/>
        </p:nvSpPr>
        <p:spPr>
          <a:xfrm>
            <a:off x="5933496" y="1396800"/>
            <a:ext cx="180000" cy="251999"/>
          </a:xfrm>
          <a:prstGeom prst="parallelogram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49495" y="1414800"/>
            <a:ext cx="64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78D4"/>
                </a:solidFill>
              </a:rPr>
              <a:t>SN 입력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75496" y="1684800"/>
            <a:ext cx="1296000" cy="306000"/>
          </a:xfrm>
          <a:prstGeom prst="round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💬 Knox Messenger</a:t>
            </a:r>
          </a:p>
        </p:txBody>
      </p:sp>
      <p:sp>
        <p:nvSpPr>
          <p:cNvPr id="34" name="Parallelogram 33"/>
          <p:cNvSpPr/>
          <p:nvPr/>
        </p:nvSpPr>
        <p:spPr>
          <a:xfrm>
            <a:off x="5933496" y="2026800"/>
            <a:ext cx="180000" cy="251999"/>
          </a:xfrm>
          <a:prstGeom prst="parallelogram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9495" y="2044800"/>
            <a:ext cx="64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5A9E"/>
                </a:solidFill>
              </a:rPr>
              <a:t>Webhook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75496" y="2314800"/>
            <a:ext cx="1296000" cy="306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⚙️ FA 챗봇 서비스 (FastAPI)</a:t>
            </a:r>
          </a:p>
        </p:txBody>
      </p:sp>
      <p:sp>
        <p:nvSpPr>
          <p:cNvPr id="37" name="Parallelogram 36"/>
          <p:cNvSpPr/>
          <p:nvPr/>
        </p:nvSpPr>
        <p:spPr>
          <a:xfrm>
            <a:off x="5933496" y="2656800"/>
            <a:ext cx="180000" cy="251999"/>
          </a:xfrm>
          <a:prstGeom prst="parallelogram">
            <a:avLst/>
          </a:prstGeom>
          <a:solidFill>
            <a:srgbClr val="605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49495" y="2674800"/>
            <a:ext cx="64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050A0"/>
                </a:solidFill>
              </a:rPr>
              <a:t>자동 조회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75496" y="2944800"/>
            <a:ext cx="1296000" cy="306000"/>
          </a:xfrm>
          <a:prstGeom prst="roundRect">
            <a:avLst/>
          </a:prstGeom>
          <a:solidFill>
            <a:srgbClr val="605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🗄️ 삼성 빅데이터 포털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706" y="2530799"/>
            <a:ext cx="476758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107C10"/>
                </a:solidFill>
              </a:rPr>
              <a:t>← 분석결과 자동 전송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706" y="2170800"/>
            <a:ext cx="476758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107C10"/>
                </a:solidFill>
              </a:rPr>
              <a:t>← PDF/리포트 자동 생성·전달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26087" y="964800"/>
            <a:ext cx="3720464" cy="5569200"/>
          </a:xfrm>
          <a:prstGeom prst="rect">
            <a:avLst/>
          </a:prstGeom>
          <a:solidFill>
            <a:srgbClr val="F0F4FA"/>
          </a:solidFill>
          <a:ln w="9525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580087" y="1018800"/>
            <a:ext cx="3612464" cy="576000"/>
          </a:xfrm>
          <a:prstGeom prst="rect">
            <a:avLst/>
          </a:prstGeom>
          <a:solidFill>
            <a:srgbClr val="FFFFFF"/>
          </a:solidFill>
          <a:ln w="1524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580087" y="1018800"/>
            <a:ext cx="90000" cy="576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24087" y="1054800"/>
            <a:ext cx="3468465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3A5F"/>
                </a:solidFill>
              </a:rPr>
              <a:t>SN 기반 자동 분석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24087" y="1216800"/>
            <a:ext cx="3468465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</a:rPr>
              <a:t>Knox Messenger 챗봇으로 SN 입력
Adaptive Card UI · 다중 SN 지원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80087" y="1648800"/>
            <a:ext cx="3612464" cy="5760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580087" y="1648800"/>
            <a:ext cx="90000" cy="576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24087" y="1684800"/>
            <a:ext cx="3468465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8D4"/>
                </a:solidFill>
              </a:rPr>
              <a:t>빅데이터 자동 조회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24087" y="1846800"/>
            <a:ext cx="3468465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</a:rPr>
              <a:t>포털 자동 로그인·조회 (Playwright)
병렬 처리로 분석 속도 최적화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580087" y="2278800"/>
            <a:ext cx="3612464" cy="576000"/>
          </a:xfrm>
          <a:prstGeom prst="rect">
            <a:avLst/>
          </a:prstGeom>
          <a:solidFill>
            <a:srgbClr val="FFFFFF"/>
          </a:solidFill>
          <a:ln w="1524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580087" y="2278800"/>
            <a:ext cx="90000" cy="576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24087" y="2314800"/>
            <a:ext cx="3468465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7C10"/>
                </a:solidFill>
              </a:rPr>
              <a:t>분석 리포트 자동 전송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24087" y="2476800"/>
            <a:ext cx="3468465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</a:rPr>
              <a:t>PDF/HTML 리포트 자동 생성
Knox Messenger로 즉시 전달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580087" y="2908800"/>
            <a:ext cx="3612464" cy="576000"/>
          </a:xfrm>
          <a:prstGeom prst="rect">
            <a:avLst/>
          </a:prstGeom>
          <a:solidFill>
            <a:srgbClr val="FFFFFF"/>
          </a:solidFill>
          <a:ln w="15240">
            <a:solidFill>
              <a:srgbClr val="605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580087" y="2908800"/>
            <a:ext cx="90000" cy="576000"/>
          </a:xfrm>
          <a:prstGeom prst="rect">
            <a:avLst/>
          </a:prstGeom>
          <a:solidFill>
            <a:srgbClr val="605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724087" y="2944800"/>
            <a:ext cx="3468465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050A0"/>
                </a:solidFill>
              </a:rPr>
              <a:t>24/7 무인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24087" y="3106800"/>
            <a:ext cx="3468465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</a:rPr>
              <a:t>주말·야간 자동 처리
오류 알림 · 타임아웃 자동 처리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80087" y="3520800"/>
            <a:ext cx="1204154" cy="180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80087" y="3538800"/>
            <a:ext cx="1204154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VOC 해결율↑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02242" y="3520800"/>
            <a:ext cx="1204154" cy="18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02242" y="3538800"/>
            <a:ext cx="1204154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대기시간 제거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024397" y="3520800"/>
            <a:ext cx="1204154" cy="18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024397" y="3538800"/>
            <a:ext cx="1204154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FA 비용↓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588000"/>
            <a:ext cx="12188952" cy="270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80000" y="6606001"/>
            <a:ext cx="8532266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ABBCC"/>
                </a:solidFill>
              </a:rPr>
              <a:t>Samsung Electronics Service  |  Field Analysis 챗봇 자동화  |  2025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288952" y="6606001"/>
            <a:ext cx="7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