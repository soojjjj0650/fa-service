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58000"/>
          </a:xfrm>
          <a:prstGeom prst="rect">
            <a:avLst/>
          </a:prstGeom>
          <a:solidFill>
            <a:srgbClr val="1C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1999" y="54000"/>
            <a:ext cx="8776045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Field Analysis 빅데이터 분석 챗봇 서비스 자동화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352800"/>
            <a:ext cx="6094476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BAD2"/>
                </a:solidFill>
              </a:rPr>
              <a:t>(주)삼성전자서비스  · 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080984" y="630000"/>
            <a:ext cx="7200" cy="111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07968" y="630000"/>
            <a:ext cx="7200" cy="111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000" y="655200"/>
            <a:ext cx="57600" cy="180000"/>
          </a:xfrm>
          <a:prstGeom prst="rect">
            <a:avLst/>
          </a:prstGeom>
          <a:solidFill>
            <a:srgbClr val="1C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6000" y="630000"/>
            <a:ext cx="3918984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C3A5F"/>
                </a:solidFill>
              </a:rPr>
              <a:t>추진 배경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000" y="864000"/>
            <a:ext cx="3864984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• 서비스센터 고객 VOC 발생 시 FA가 현장 방문, 빅데이터 분석 결과를 사전 공유하여 체계적 대응 지원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" y="1170000"/>
            <a:ext cx="3864984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• 통신사 이관 이슈 조기 분류 → 진성 단말 이슈에 집중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000" y="1537200"/>
            <a:ext cx="57600" cy="180000"/>
          </a:xfrm>
          <a:prstGeom prst="rect">
            <a:avLst/>
          </a:prstGeom>
          <a:solidFill>
            <a:srgbClr val="1C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6000" y="1512000"/>
            <a:ext cx="3918984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C3A5F"/>
                </a:solidFill>
              </a:rPr>
              <a:t>문제점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" y="1746000"/>
            <a:ext cx="3864984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• 주말·야간 대응 불가  (본사 인력 부재)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000" y="1900800"/>
            <a:ext cx="3864984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• 수동 조회로 현장 대응 지연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000" y="2055600"/>
            <a:ext cx="3864984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• 반복 업무로 인력 비효율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34984" y="655200"/>
            <a:ext cx="57600" cy="180000"/>
          </a:xfrm>
          <a:prstGeom prst="rect">
            <a:avLst/>
          </a:prstGeom>
          <a:solidFill>
            <a:srgbClr val="1C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2984" y="630000"/>
            <a:ext cx="3918984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C3A5F"/>
                </a:solidFill>
              </a:rPr>
              <a:t>개선 목표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8984" y="864000"/>
            <a:ext cx="3864984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▸  챗봇 기반 24/7 자동 분석 체계 구축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88984" y="1036800"/>
            <a:ext cx="3864984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▸  고객 VOC 해결율 향상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8984" y="1209600"/>
            <a:ext cx="3864984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▸  본사 업무 효율성 제고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88984" y="1382400"/>
            <a:ext cx="3864984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▸  FA 대응 비용 절감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88984" y="1555200"/>
            <a:ext cx="3864984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▸  서비스센터 FA 이관 이슈 사전 분류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61968" y="655200"/>
            <a:ext cx="57600" cy="180000"/>
          </a:xfrm>
          <a:prstGeom prst="rect">
            <a:avLst/>
          </a:prstGeom>
          <a:solidFill>
            <a:srgbClr val="1C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9968" y="630000"/>
            <a:ext cx="3918984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C3A5F"/>
                </a:solidFill>
              </a:rPr>
              <a:t>기대 효과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5968" y="864000"/>
            <a:ext cx="3864984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▸  FA 현장 대응 속도 향상  (즉각 분석 결과 제공)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5968" y="1036800"/>
            <a:ext cx="3864984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▸  본사 분석 인력 업무 부담 경감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5968" y="1209600"/>
            <a:ext cx="3864984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▸  야간·주말 고객 불만 최소화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5968" y="1382400"/>
            <a:ext cx="3864984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▸  체계적 이슈 분류로 FA 출동 비용 절감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8000" y="1800000"/>
            <a:ext cx="11972952" cy="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92597" y="1843200"/>
            <a:ext cx="7200" cy="47988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8000" y="1868400"/>
            <a:ext cx="57600" cy="180000"/>
          </a:xfrm>
          <a:prstGeom prst="rect">
            <a:avLst/>
          </a:prstGeom>
          <a:solidFill>
            <a:srgbClr val="1C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6000" y="1843200"/>
            <a:ext cx="8166597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C3A5F"/>
                </a:solidFill>
              </a:rPr>
              <a:t>시스템 구성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8597" y="1868400"/>
            <a:ext cx="57600" cy="180000"/>
          </a:xfrm>
          <a:prstGeom prst="rect">
            <a:avLst/>
          </a:prstGeom>
          <a:solidFill>
            <a:srgbClr val="1C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36597" y="1843200"/>
            <a:ext cx="3752354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C3A5F"/>
                </a:solidFill>
              </a:rPr>
              <a:t>주요 기능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8000" y="4179599"/>
            <a:ext cx="976371" cy="378000"/>
          </a:xfrm>
          <a:prstGeom prst="rect">
            <a:avLst/>
          </a:prstGeom>
          <a:solidFill>
            <a:srgbClr val="FFFFFF"/>
          </a:solidFill>
          <a:ln w="9525">
            <a:solidFill>
              <a:srgbClr val="1C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000" y="4208399"/>
            <a:ext cx="97637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C3A5F"/>
                </a:solidFill>
              </a:rPr>
              <a:t>👤 FA 담당자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000" y="4359599"/>
            <a:ext cx="976371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8888"/>
                </a:solidFill>
              </a:rPr>
              <a:t>SN 입력</a:t>
            </a:r>
          </a:p>
        </p:txBody>
      </p:sp>
      <p:sp>
        <p:nvSpPr>
          <p:cNvPr id="39" name="Can 38"/>
          <p:cNvSpPr/>
          <p:nvPr/>
        </p:nvSpPr>
        <p:spPr>
          <a:xfrm>
            <a:off x="1084371" y="4305600"/>
            <a:ext cx="198000" cy="125999"/>
          </a:xfrm>
          <a:prstGeom prst="can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282371" y="4179599"/>
            <a:ext cx="976371" cy="378000"/>
          </a:xfrm>
          <a:prstGeom prst="rect">
            <a:avLst/>
          </a:prstGeom>
          <a:solidFill>
            <a:srgbClr val="FFFFFF"/>
          </a:solidFill>
          <a:ln w="9525">
            <a:solidFill>
              <a:srgbClr val="1C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2371" y="4208399"/>
            <a:ext cx="97637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C3A5F"/>
                </a:solidFill>
              </a:rPr>
              <a:t>💬 Knox Messenger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2371" y="4359599"/>
            <a:ext cx="976371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8888"/>
                </a:solidFill>
              </a:rPr>
              <a:t>메시지 전달</a:t>
            </a:r>
          </a:p>
        </p:txBody>
      </p:sp>
      <p:sp>
        <p:nvSpPr>
          <p:cNvPr id="43" name="Can 42"/>
          <p:cNvSpPr/>
          <p:nvPr/>
        </p:nvSpPr>
        <p:spPr>
          <a:xfrm>
            <a:off x="2258742" y="4305600"/>
            <a:ext cx="198000" cy="125999"/>
          </a:xfrm>
          <a:prstGeom prst="can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456742" y="4179599"/>
            <a:ext cx="976371" cy="378000"/>
          </a:xfrm>
          <a:prstGeom prst="rect">
            <a:avLst/>
          </a:prstGeom>
          <a:solidFill>
            <a:srgbClr val="FFFFFF"/>
          </a:solidFill>
          <a:ln w="9525">
            <a:solidFill>
              <a:srgbClr val="1C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56742" y="4208399"/>
            <a:ext cx="97637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C3A5F"/>
                </a:solidFill>
              </a:rPr>
              <a:t>⚙ FA 분석
자동화 서버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56742" y="4359599"/>
            <a:ext cx="976371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8888"/>
                </a:solidFill>
              </a:rPr>
              <a:t>분석 요청 수신</a:t>
            </a:r>
          </a:p>
        </p:txBody>
      </p:sp>
      <p:sp>
        <p:nvSpPr>
          <p:cNvPr id="47" name="Can 46"/>
          <p:cNvSpPr/>
          <p:nvPr/>
        </p:nvSpPr>
        <p:spPr>
          <a:xfrm>
            <a:off x="3433113" y="4305600"/>
            <a:ext cx="198000" cy="125999"/>
          </a:xfrm>
          <a:prstGeom prst="can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31113" y="4179599"/>
            <a:ext cx="976371" cy="378000"/>
          </a:xfrm>
          <a:prstGeom prst="rect">
            <a:avLst/>
          </a:prstGeom>
          <a:solidFill>
            <a:srgbClr val="FFFFFF"/>
          </a:solidFill>
          <a:ln w="9525">
            <a:solidFill>
              <a:srgbClr val="1C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31113" y="4208399"/>
            <a:ext cx="97637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C3A5F"/>
                </a:solidFill>
              </a:rPr>
              <a:t>🗄 빅데이터
포털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31113" y="4359599"/>
            <a:ext cx="976371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8888"/>
                </a:solidFill>
              </a:rPr>
              <a:t>자동 조회</a:t>
            </a:r>
          </a:p>
        </p:txBody>
      </p:sp>
      <p:sp>
        <p:nvSpPr>
          <p:cNvPr id="51" name="Can 50"/>
          <p:cNvSpPr/>
          <p:nvPr/>
        </p:nvSpPr>
        <p:spPr>
          <a:xfrm>
            <a:off x="4607484" y="4305600"/>
            <a:ext cx="198000" cy="125999"/>
          </a:xfrm>
          <a:prstGeom prst="can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05484" y="4179599"/>
            <a:ext cx="976371" cy="378000"/>
          </a:xfrm>
          <a:prstGeom prst="rect">
            <a:avLst/>
          </a:prstGeom>
          <a:solidFill>
            <a:srgbClr val="FFFFFF"/>
          </a:solidFill>
          <a:ln w="9525">
            <a:solidFill>
              <a:srgbClr val="1C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05484" y="4208399"/>
            <a:ext cx="97637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C3A5F"/>
                </a:solidFill>
              </a:rPr>
              <a:t>📄 분석 결과
생성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5484" y="4359599"/>
            <a:ext cx="976371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8888"/>
                </a:solidFill>
              </a:rPr>
              <a:t>PDF / HTML</a:t>
            </a:r>
          </a:p>
        </p:txBody>
      </p:sp>
      <p:sp>
        <p:nvSpPr>
          <p:cNvPr id="55" name="Can 54"/>
          <p:cNvSpPr/>
          <p:nvPr/>
        </p:nvSpPr>
        <p:spPr>
          <a:xfrm>
            <a:off x="5781855" y="4305600"/>
            <a:ext cx="198000" cy="125999"/>
          </a:xfrm>
          <a:prstGeom prst="can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979855" y="4179599"/>
            <a:ext cx="976371" cy="378000"/>
          </a:xfrm>
          <a:prstGeom prst="rect">
            <a:avLst/>
          </a:prstGeom>
          <a:solidFill>
            <a:srgbClr val="FFFFFF"/>
          </a:solidFill>
          <a:ln w="9525">
            <a:solidFill>
              <a:srgbClr val="1C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79855" y="4208399"/>
            <a:ext cx="97637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C3A5F"/>
                </a:solidFill>
              </a:rPr>
              <a:t>💬 Knox Messenger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79855" y="4359599"/>
            <a:ext cx="976371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8888"/>
                </a:solidFill>
              </a:rPr>
              <a:t>결과 전달</a:t>
            </a:r>
          </a:p>
        </p:txBody>
      </p:sp>
      <p:sp>
        <p:nvSpPr>
          <p:cNvPr id="59" name="Can 58"/>
          <p:cNvSpPr/>
          <p:nvPr/>
        </p:nvSpPr>
        <p:spPr>
          <a:xfrm>
            <a:off x="6956226" y="4305600"/>
            <a:ext cx="198000" cy="125999"/>
          </a:xfrm>
          <a:prstGeom prst="can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54226" y="4179599"/>
            <a:ext cx="976371" cy="378000"/>
          </a:xfrm>
          <a:prstGeom prst="rect">
            <a:avLst/>
          </a:prstGeom>
          <a:solidFill>
            <a:srgbClr val="FFFFFF"/>
          </a:solidFill>
          <a:ln w="9525">
            <a:solidFill>
              <a:srgbClr val="1C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54226" y="4208399"/>
            <a:ext cx="97637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C3A5F"/>
                </a:solidFill>
              </a:rPr>
              <a:t>👤 FA 담당자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54226" y="4359599"/>
            <a:ext cx="976371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8888"/>
                </a:solidFill>
              </a:rPr>
              <a:t>결과 수신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82597" y="2131199"/>
            <a:ext cx="36000" cy="151200"/>
          </a:xfrm>
          <a:prstGeom prst="rect">
            <a:avLst/>
          </a:prstGeom>
          <a:solidFill>
            <a:srgbClr val="1C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72597" y="2113199"/>
            <a:ext cx="3608354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04040"/>
                </a:solidFill>
              </a:rPr>
              <a:t>SN 기반 자동 분석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72597" y="2260799"/>
            <a:ext cx="3608354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</a:rPr>
              <a:t>Knox Messenger · Adaptive Card · 다중 SN 지원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82597" y="3209399"/>
            <a:ext cx="3698354" cy="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382597" y="3263399"/>
            <a:ext cx="36000" cy="151200"/>
          </a:xfrm>
          <a:prstGeom prst="rect">
            <a:avLst/>
          </a:prstGeom>
          <a:solidFill>
            <a:srgbClr val="1C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72597" y="3245399"/>
            <a:ext cx="3608354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04040"/>
                </a:solidFill>
              </a:rPr>
              <a:t>빅데이터 자동 조회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72597" y="3392999"/>
            <a:ext cx="3608354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</a:rPr>
              <a:t>포털 자동화 (Playwright) · 병렬 처리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382597" y="4341599"/>
            <a:ext cx="3698354" cy="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382597" y="4395599"/>
            <a:ext cx="36000" cy="151200"/>
          </a:xfrm>
          <a:prstGeom prst="rect">
            <a:avLst/>
          </a:prstGeom>
          <a:solidFill>
            <a:srgbClr val="1C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72597" y="4377599"/>
            <a:ext cx="3608354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04040"/>
                </a:solidFill>
              </a:rPr>
              <a:t>분석 리포트 자동 전송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72597" y="4525199"/>
            <a:ext cx="3608354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</a:rPr>
              <a:t>PDF / HTML 생성 → Knox Messenger 전달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382597" y="5473799"/>
            <a:ext cx="3698354" cy="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382597" y="5527799"/>
            <a:ext cx="36000" cy="151200"/>
          </a:xfrm>
          <a:prstGeom prst="rect">
            <a:avLst/>
          </a:prstGeom>
          <a:solidFill>
            <a:srgbClr val="1C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72597" y="5509799"/>
            <a:ext cx="3608354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04040"/>
                </a:solidFill>
              </a:rPr>
              <a:t>24/7 무인 대응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72597" y="5657399"/>
            <a:ext cx="3608354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</a:rPr>
              <a:t>주말·야간 자동 처리 · 오류 알림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6670800"/>
            <a:ext cx="12188952" cy="187200"/>
          </a:xfrm>
          <a:prstGeom prst="rect">
            <a:avLst/>
          </a:prstGeom>
          <a:solidFill>
            <a:srgbClr val="1C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6000" y="6685200"/>
            <a:ext cx="9141714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B2CC"/>
                </a:solidFill>
              </a:rPr>
              <a:t>Samsung Electronics Service  ·  Field Analysis Chatbot Automation  ·  2025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396952" y="6685200"/>
            <a:ext cx="684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