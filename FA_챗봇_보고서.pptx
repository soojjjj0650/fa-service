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58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1999" y="54000"/>
            <a:ext cx="8776045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Field Analysis 빅데이터 분석 챗봇 서비스 자동화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999" y="352800"/>
            <a:ext cx="609447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BAD2"/>
                </a:solidFill>
              </a:rPr>
              <a:t>(주)삼성전자서비스  · 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080984" y="637200"/>
            <a:ext cx="7200" cy="127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07968" y="637200"/>
            <a:ext cx="7200" cy="127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000" y="662400"/>
            <a:ext cx="57600" cy="180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6000" y="637200"/>
            <a:ext cx="3918984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3A5F"/>
                </a:solidFill>
              </a:rPr>
              <a:t>추진 배경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000" y="871200"/>
            <a:ext cx="3864984" cy="29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서비스센터 고객 VOC 발생 시 FA가 현장 방문, 빅데이터 분석 결과를 사전 공유하여 체계적 대응 지원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" y="1177200"/>
            <a:ext cx="3864984" cy="29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통신사 이관 이슈 조기 분류 → 진성 단말 이슈에 집중 가능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8000" y="1544400"/>
            <a:ext cx="57600" cy="180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000" y="1519200"/>
            <a:ext cx="3918984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3A5F"/>
                </a:solidFill>
              </a:rPr>
              <a:t>문제점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" y="1753200"/>
            <a:ext cx="3864984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주말·야간 대응 불가  (본사 인력 부재)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000" y="1918800"/>
            <a:ext cx="3864984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수동 조회 대기시간 발생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000" y="2084400"/>
            <a:ext cx="3864984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반복 업무로 인력 비효율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34984" y="662400"/>
            <a:ext cx="57600" cy="180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42984" y="637200"/>
            <a:ext cx="3918984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3A5F"/>
                </a:solidFill>
              </a:rPr>
              <a:t>개선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8984" y="871200"/>
            <a:ext cx="3864984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▸  챗봇 기반 24/7 자동 분석 체계 구축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8984" y="1047600"/>
            <a:ext cx="3864984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▸  고객 VOC 해결율 향상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8984" y="1224000"/>
            <a:ext cx="3864984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▸  본사 업무 효율성 제고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88984" y="1400400"/>
            <a:ext cx="3864984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▸  FA 대응 비용 절감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88984" y="1576800"/>
            <a:ext cx="3864984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▸  서비스센터 FA 이관 이슈 사전 분류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61968" y="662400"/>
            <a:ext cx="57600" cy="180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69968" y="637200"/>
            <a:ext cx="3918984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3A5F"/>
                </a:solidFill>
              </a:rPr>
              <a:t>주요 기능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5968" y="871200"/>
            <a:ext cx="3864984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</a:rPr>
              <a:t>SN 기반 자동 분석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5968" y="1008000"/>
            <a:ext cx="3864984" cy="12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Knox Messenger · Adaptive Card · 다중 SN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5968" y="1166400"/>
            <a:ext cx="3864984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</a:rPr>
              <a:t>빅데이터 자동 조회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5968" y="1303200"/>
            <a:ext cx="3864984" cy="12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포털 자동화 (Playwright) · 병렬 처리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5968" y="1461600"/>
            <a:ext cx="3864984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</a:rPr>
              <a:t>분석 리포트 자동 전송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5968" y="1598400"/>
            <a:ext cx="3864984" cy="12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PDF / HTML 생성 → Knox Messenger 전달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5968" y="1756800"/>
            <a:ext cx="3864984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</a:rPr>
              <a:t>24/7 무인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5968" y="1893600"/>
            <a:ext cx="3864984" cy="12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주말·야간 자동 처리 · 오류 알림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000" y="1980000"/>
            <a:ext cx="11972952" cy="7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000" y="2041200"/>
            <a:ext cx="57600" cy="180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6000" y="2016000"/>
            <a:ext cx="11972952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3A5F"/>
                </a:solidFill>
              </a:rPr>
              <a:t>시스템 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000" y="4244400"/>
            <a:ext cx="1494422" cy="3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000" y="4280400"/>
            <a:ext cx="1494422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C3A5F"/>
                </a:solidFill>
              </a:rPr>
              <a:t>👤 FA 담당자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000" y="4431600"/>
            <a:ext cx="1494422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88888"/>
                </a:solidFill>
              </a:rPr>
              <a:t>SN 입력</a:t>
            </a:r>
          </a:p>
        </p:txBody>
      </p:sp>
      <p:sp>
        <p:nvSpPr>
          <p:cNvPr id="40" name="Can 39"/>
          <p:cNvSpPr/>
          <p:nvPr/>
        </p:nvSpPr>
        <p:spPr>
          <a:xfrm>
            <a:off x="1602422" y="4374000"/>
            <a:ext cx="251999" cy="136800"/>
          </a:xfrm>
          <a:prstGeom prst="can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854421" y="4244400"/>
            <a:ext cx="1494422" cy="3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54421" y="4280400"/>
            <a:ext cx="1494422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C3A5F"/>
                </a:solidFill>
              </a:rPr>
              <a:t>💬 Knox Messenger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54421" y="4431600"/>
            <a:ext cx="1494422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88888"/>
                </a:solidFill>
              </a:rPr>
              <a:t>메시지 전달</a:t>
            </a:r>
          </a:p>
        </p:txBody>
      </p:sp>
      <p:sp>
        <p:nvSpPr>
          <p:cNvPr id="44" name="Can 43"/>
          <p:cNvSpPr/>
          <p:nvPr/>
        </p:nvSpPr>
        <p:spPr>
          <a:xfrm>
            <a:off x="3348844" y="4374000"/>
            <a:ext cx="251999" cy="136800"/>
          </a:xfrm>
          <a:prstGeom prst="can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00843" y="4244400"/>
            <a:ext cx="1494422" cy="3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00843" y="4280400"/>
            <a:ext cx="1494422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C3A5F"/>
                </a:solidFill>
              </a:rPr>
              <a:t>⚙ FA 분석 자동화 서버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00843" y="4431600"/>
            <a:ext cx="1494422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88888"/>
                </a:solidFill>
              </a:rPr>
              <a:t>분석 요청 수신</a:t>
            </a:r>
          </a:p>
        </p:txBody>
      </p:sp>
      <p:sp>
        <p:nvSpPr>
          <p:cNvPr id="48" name="Can 47"/>
          <p:cNvSpPr/>
          <p:nvPr/>
        </p:nvSpPr>
        <p:spPr>
          <a:xfrm>
            <a:off x="5095265" y="4374000"/>
            <a:ext cx="251999" cy="136800"/>
          </a:xfrm>
          <a:prstGeom prst="can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347264" y="4244400"/>
            <a:ext cx="1494422" cy="3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47264" y="4280400"/>
            <a:ext cx="1494422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C3A5F"/>
                </a:solidFill>
              </a:rPr>
              <a:t>🗄 빅데이터 포털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47264" y="4431600"/>
            <a:ext cx="1494422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88888"/>
                </a:solidFill>
              </a:rPr>
              <a:t>자동 조회</a:t>
            </a:r>
          </a:p>
        </p:txBody>
      </p:sp>
      <p:sp>
        <p:nvSpPr>
          <p:cNvPr id="52" name="Can 51"/>
          <p:cNvSpPr/>
          <p:nvPr/>
        </p:nvSpPr>
        <p:spPr>
          <a:xfrm>
            <a:off x="6841687" y="4374000"/>
            <a:ext cx="251999" cy="136800"/>
          </a:xfrm>
          <a:prstGeom prst="can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093686" y="4244400"/>
            <a:ext cx="1494422" cy="3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93686" y="4280400"/>
            <a:ext cx="1494422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C3A5F"/>
                </a:solidFill>
              </a:rPr>
              <a:t>📄 분석 결과 생성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93686" y="4431600"/>
            <a:ext cx="1494422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88888"/>
                </a:solidFill>
              </a:rPr>
              <a:t>PDF / HTML</a:t>
            </a:r>
          </a:p>
        </p:txBody>
      </p:sp>
      <p:sp>
        <p:nvSpPr>
          <p:cNvPr id="56" name="Can 55"/>
          <p:cNvSpPr/>
          <p:nvPr/>
        </p:nvSpPr>
        <p:spPr>
          <a:xfrm>
            <a:off x="8588108" y="4374000"/>
            <a:ext cx="251999" cy="136800"/>
          </a:xfrm>
          <a:prstGeom prst="can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40107" y="4244400"/>
            <a:ext cx="1494422" cy="3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40107" y="4280400"/>
            <a:ext cx="1494422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C3A5F"/>
                </a:solidFill>
              </a:rPr>
              <a:t>💬 Knox Messenger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40107" y="4431600"/>
            <a:ext cx="1494422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88888"/>
                </a:solidFill>
              </a:rPr>
              <a:t>결과 전달</a:t>
            </a:r>
          </a:p>
        </p:txBody>
      </p:sp>
      <p:sp>
        <p:nvSpPr>
          <p:cNvPr id="60" name="Can 59"/>
          <p:cNvSpPr/>
          <p:nvPr/>
        </p:nvSpPr>
        <p:spPr>
          <a:xfrm>
            <a:off x="10334530" y="4374000"/>
            <a:ext cx="251999" cy="136800"/>
          </a:xfrm>
          <a:prstGeom prst="can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586529" y="4244400"/>
            <a:ext cx="1494422" cy="3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86529" y="4280400"/>
            <a:ext cx="1494422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C3A5F"/>
                </a:solidFill>
              </a:rPr>
              <a:t>👤 FA 담당자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86529" y="4431600"/>
            <a:ext cx="1494422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88888"/>
                </a:solidFill>
              </a:rPr>
              <a:t>결과 수신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70800"/>
            <a:ext cx="12188952" cy="1872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16000" y="6685200"/>
            <a:ext cx="9141714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0B2CC"/>
                </a:solidFill>
              </a:rPr>
              <a:t>Samsung Electronics Service  ·  Field Analysis Chatbot Automation  ·  2025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96952" y="6685200"/>
            <a:ext cx="684000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