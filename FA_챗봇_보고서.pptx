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76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51999" y="64800"/>
            <a:ext cx="8288487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Field Analysis 빅데이터 분석 챗봇 서비스 자동화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999" y="349200"/>
            <a:ext cx="487558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BED4"/>
                </a:solidFill>
              </a:rPr>
              <a:t>(주)삼성전자서비스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96952" y="349200"/>
            <a:ext cx="64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 i="0">
                <a:solidFill>
                  <a:srgbClr val="B0BED4"/>
                </a:solidFill>
              </a:rPr>
              <a:t>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1127" y="666000"/>
            <a:ext cx="7200" cy="597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27150" y="666000"/>
            <a:ext cx="7200" cy="5976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000" y="720000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6000" y="702000"/>
            <a:ext cx="3061127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추진 배경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000" y="953999"/>
            <a:ext cx="3097127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서비스센터 고객 VOC 발생 시 FA가 현장 방문하여 문제 해결 지원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1285199"/>
            <a:ext cx="3097127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• 빅데이터 분석 결과를 사전 공유, 통신사 이관 이슈 조기 분류 →진성 단말 이슈에 집중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8000" y="1670399"/>
            <a:ext cx="3169127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8000" y="1760399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6000" y="1742399"/>
            <a:ext cx="3061127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현황 및 문제점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000" y="19943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주말·야간 대응 불가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000" y="21275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본사 인력 부재 시 분석 지원 중단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000" y="23003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수동 조회 대기시간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000" y="24335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빅데이터 수동 조회로 현장 대응 지연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000" y="26063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04040"/>
                </a:solidFill>
              </a:rPr>
              <a:t>인력 비효율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000" y="2739598"/>
            <a:ext cx="3097127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8888"/>
                </a:solidFill>
              </a:rPr>
              <a:t>반복 단순업무로 핵심 업무 집중 저하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000" y="2966398"/>
            <a:ext cx="3169127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000" y="3056398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000" y="3038398"/>
            <a:ext cx="3061127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개선 목표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000" y="3290397"/>
            <a:ext cx="309712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챗봇 기반 24/7 자동 분석 체계 구축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000" y="3470397"/>
            <a:ext cx="309712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고객 VOC 해결율 향상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000" y="3650397"/>
            <a:ext cx="309712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본사 업무 효율성 제고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" y="3830397"/>
            <a:ext cx="3097127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FA 대응 비용 절감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5127" y="720000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127" y="702000"/>
            <a:ext cx="4280022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시스템 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29127" y="9720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9127" y="10008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👤  FA 담당자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9127" y="11700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SN 입력 요청</a:t>
            </a:r>
          </a:p>
        </p:txBody>
      </p:sp>
      <p:sp>
        <p:nvSpPr>
          <p:cNvPr id="34" name="Parallelogram 33"/>
          <p:cNvSpPr/>
          <p:nvPr/>
        </p:nvSpPr>
        <p:spPr>
          <a:xfrm>
            <a:off x="5514338" y="12672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79938" y="12852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SN 입력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9127" y="14184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9127" y="14472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💬  Knox Messenger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9127" y="16164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메시지 전달</a:t>
            </a:r>
          </a:p>
        </p:txBody>
      </p:sp>
      <p:sp>
        <p:nvSpPr>
          <p:cNvPr id="39" name="Parallelogram 38"/>
          <p:cNvSpPr/>
          <p:nvPr/>
        </p:nvSpPr>
        <p:spPr>
          <a:xfrm>
            <a:off x="5514338" y="17136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79938" y="17316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Webhook 수신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9127" y="18648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127" y="18936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⚙  FA 챗봇 서비스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127" y="20628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FastAPI 서버</a:t>
            </a:r>
          </a:p>
        </p:txBody>
      </p:sp>
      <p:sp>
        <p:nvSpPr>
          <p:cNvPr id="44" name="Parallelogram 43"/>
          <p:cNvSpPr/>
          <p:nvPr/>
        </p:nvSpPr>
        <p:spPr>
          <a:xfrm>
            <a:off x="5514338" y="21600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79938" y="21780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자동 조회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29127" y="23112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127" y="23400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🗄  빅데이터 포털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127" y="25092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자동 로그인·조회</a:t>
            </a:r>
          </a:p>
        </p:txBody>
      </p:sp>
      <p:sp>
        <p:nvSpPr>
          <p:cNvPr id="49" name="Parallelogram 48"/>
          <p:cNvSpPr/>
          <p:nvPr/>
        </p:nvSpPr>
        <p:spPr>
          <a:xfrm>
            <a:off x="5514338" y="26064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79938" y="26244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결과 반환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29127" y="27576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9127" y="27864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📄  분석 결과 생성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9127" y="29556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PDF / HTML 리포트</a:t>
            </a:r>
          </a:p>
        </p:txBody>
      </p:sp>
      <p:sp>
        <p:nvSpPr>
          <p:cNvPr id="54" name="Parallelogram 53"/>
          <p:cNvSpPr/>
          <p:nvPr/>
        </p:nvSpPr>
        <p:spPr>
          <a:xfrm>
            <a:off x="5514338" y="30528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79938" y="30708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자동 전송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9127" y="32040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9127" y="32328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💬  Knox Messenger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29127" y="34020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결과 메시지 수신</a:t>
            </a:r>
          </a:p>
        </p:txBody>
      </p:sp>
      <p:sp>
        <p:nvSpPr>
          <p:cNvPr id="59" name="Parallelogram 58"/>
          <p:cNvSpPr/>
          <p:nvPr/>
        </p:nvSpPr>
        <p:spPr>
          <a:xfrm>
            <a:off x="5514338" y="3499200"/>
            <a:ext cx="129600" cy="54432000000"/>
          </a:xfrm>
          <a:prstGeom prst="parallelogram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79938" y="3517200"/>
            <a:ext cx="648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알림 수신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29127" y="3650400"/>
            <a:ext cx="4100022" cy="295200"/>
          </a:xfrm>
          <a:prstGeom prst="rect">
            <a:avLst/>
          </a:prstGeom>
          <a:solidFill>
            <a:srgbClr val="FFFFFF"/>
          </a:solidFill>
          <a:ln w="10160">
            <a:solidFill>
              <a:srgbClr val="1C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29127" y="3679200"/>
            <a:ext cx="4100022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C3A5F"/>
                </a:solidFill>
              </a:rPr>
              <a:t>👤  FA 담당자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29127" y="3848400"/>
            <a:ext cx="4100022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888888"/>
                </a:solidFill>
              </a:rPr>
              <a:t>현장 대응 준비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81150" y="720000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89150" y="702000"/>
            <a:ext cx="4091801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주요 기능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935150" y="989999"/>
            <a:ext cx="36000" cy="1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25150" y="971999"/>
            <a:ext cx="403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04040"/>
                </a:solidFill>
              </a:rPr>
              <a:t>SN 기반 자동 분석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5150" y="1126799"/>
            <a:ext cx="4037801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Knox Messenger 챗봇으로 SN 입력
Adaptive Card UI · 다중 SN 동시 지원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935150" y="1414799"/>
            <a:ext cx="4145801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935150" y="1486799"/>
            <a:ext cx="36000" cy="1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5150" y="1468799"/>
            <a:ext cx="403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04040"/>
                </a:solidFill>
              </a:rPr>
              <a:t>빅데이터 자동 조회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25150" y="1623599"/>
            <a:ext cx="4037801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포털 자동 로그인·조회 (Playwright)
병렬 처리로 속도 최적화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35150" y="1911599"/>
            <a:ext cx="4145801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935150" y="1983599"/>
            <a:ext cx="36000" cy="1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25150" y="1965599"/>
            <a:ext cx="403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04040"/>
                </a:solidFill>
              </a:rPr>
              <a:t>분석 리포트 자동 전송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5150" y="2120399"/>
            <a:ext cx="4037801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PDF·HTML 리포트 자동 생성
Knox Messenger로 즉시 전달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35150" y="2408399"/>
            <a:ext cx="4145801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935150" y="2480399"/>
            <a:ext cx="36000" cy="18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25150" y="2462399"/>
            <a:ext cx="403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404040"/>
                </a:solidFill>
              </a:rPr>
              <a:t>24/7 무인 대응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25150" y="2617199"/>
            <a:ext cx="4037801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주말·야간 무인 자동 처리
오류 알림·타임아웃 자동 처리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881150" y="2977199"/>
            <a:ext cx="4199801" cy="7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881150" y="3085199"/>
            <a:ext cx="64800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989150" y="3067199"/>
            <a:ext cx="4091801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C3A5F"/>
                </a:solidFill>
              </a:rPr>
              <a:t>기대 효과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3150" y="3337199"/>
            <a:ext cx="412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고객 VOC 해결율 향상 (24/7 즉각 대응)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53150" y="3506399"/>
            <a:ext cx="412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본사 분석 인력 업무 효율 제고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53150" y="3675599"/>
            <a:ext cx="412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FA 현장 대응 비용 절감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953150" y="3844799"/>
            <a:ext cx="412780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</a:rPr>
              <a:t>▸  서비스센터 FA 이관 이슈 사전 분류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660000"/>
            <a:ext cx="12188952" cy="198000"/>
          </a:xfrm>
          <a:prstGeom prst="rect">
            <a:avLst/>
          </a:prstGeom>
          <a:solidFill>
            <a:srgbClr val="1C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16000" y="6696000"/>
            <a:ext cx="9141714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0B2CC"/>
                </a:solidFill>
              </a:rPr>
              <a:t>Samsung Electronics Service  ·  Field Analysis Chatbot Automation  ·  2025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60953" y="6696000"/>
            <a:ext cx="720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FFFFFF"/>
                </a:solidFill>
              </a:rP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